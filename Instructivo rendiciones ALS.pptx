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chive" charset="1" panose="02000506040000020004"/>
      <p:regular r:id="rId23"/>
    </p:embeddedFont>
    <p:embeddedFont>
      <p:font typeface=" Avenir Next Arabic Light" charset="1" panose="020B0403020202020204"/>
      <p:regular r:id="rId24"/>
    </p:embeddedFont>
    <p:embeddedFont>
      <p:font typeface="Poppins Light" charset="1" panose="00000400000000000000"/>
      <p:regular r:id="rId25"/>
    </p:embeddedFont>
    <p:embeddedFont>
      <p:font typeface="Poppins" charset="1" panose="00000500000000000000"/>
      <p:regular r:id="rId26"/>
    </p:embeddedFont>
    <p:embeddedFont>
      <p:font typeface="Poppins Semi-Bold" charset="1" panose="00000700000000000000"/>
      <p:regular r:id="rId27"/>
    </p:embeddedFont>
    <p:embeddedFont>
      <p:font typeface=" Avenir Next Arabic Bold" charset="1" panose="020B0803020202020204"/>
      <p:regular r:id="rId28"/>
    </p:embeddedFont>
    <p:embeddedFont>
      <p:font typeface=" Avenir Next Arabic" charset="1" panose="020B0503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41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9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9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9.png" Type="http://schemas.openxmlformats.org/officeDocument/2006/relationships/image"/><Relationship Id="rId8" Target="../media/image57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9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657652">
            <a:off x="9345736" y="780741"/>
            <a:ext cx="6740821" cy="7756175"/>
          </a:xfrm>
          <a:custGeom>
            <a:avLst/>
            <a:gdLst/>
            <a:ahLst/>
            <a:cxnLst/>
            <a:rect r="r" b="b" t="t" l="l"/>
            <a:pathLst>
              <a:path h="7756175" w="6740821">
                <a:moveTo>
                  <a:pt x="0" y="7756174"/>
                </a:moveTo>
                <a:lnTo>
                  <a:pt x="6740821" y="7756174"/>
                </a:lnTo>
                <a:lnTo>
                  <a:pt x="6740821" y="0"/>
                </a:lnTo>
                <a:lnTo>
                  <a:pt x="0" y="0"/>
                </a:lnTo>
                <a:lnTo>
                  <a:pt x="0" y="77561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02583">
            <a:off x="-4695749" y="1414238"/>
            <a:ext cx="9391498" cy="10806117"/>
          </a:xfrm>
          <a:custGeom>
            <a:avLst/>
            <a:gdLst/>
            <a:ahLst/>
            <a:cxnLst/>
            <a:rect r="r" b="b" t="t" l="l"/>
            <a:pathLst>
              <a:path h="10806117" w="9391498">
                <a:moveTo>
                  <a:pt x="0" y="0"/>
                </a:moveTo>
                <a:lnTo>
                  <a:pt x="9391498" y="0"/>
                </a:lnTo>
                <a:lnTo>
                  <a:pt x="9391498" y="10806118"/>
                </a:lnTo>
                <a:lnTo>
                  <a:pt x="0" y="10806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49886" y="4023022"/>
            <a:ext cx="10356327" cy="259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8483" spc="-602">
                <a:solidFill>
                  <a:srgbClr val="FFFFFF"/>
                </a:solidFill>
                <a:latin typeface="Archive"/>
                <a:ea typeface="Archive"/>
                <a:cs typeface="Archive"/>
                <a:sym typeface="Archive"/>
              </a:rPr>
              <a:t>INSTRUCTIVO </a:t>
            </a:r>
          </a:p>
          <a:p>
            <a:pPr algn="ctr">
              <a:lnSpc>
                <a:spcPts val="6532"/>
              </a:lnSpc>
            </a:pPr>
          </a:p>
          <a:p>
            <a:pPr algn="ctr">
              <a:lnSpc>
                <a:spcPts val="6532"/>
              </a:lnSpc>
            </a:pPr>
            <a:r>
              <a:rPr lang="en-US" sz="8483" spc="-602">
                <a:solidFill>
                  <a:srgbClr val="FFFFFF"/>
                </a:solidFill>
                <a:latin typeface="Archive"/>
                <a:ea typeface="Archive"/>
                <a:cs typeface="Archive"/>
                <a:sym typeface="Archive"/>
              </a:rPr>
              <a:t>RENDICIONES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27381" y="431800"/>
            <a:ext cx="55319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ALS INSPECTION 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66591" y="8623300"/>
            <a:ext cx="1149270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Febrero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028304" y="-2539412"/>
            <a:ext cx="16230600" cy="8229600"/>
            <a:chOff x="0" y="0"/>
            <a:chExt cx="80151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1511" cy="406400"/>
            </a:xfrm>
            <a:custGeom>
              <a:avLst/>
              <a:gdLst/>
              <a:ahLst/>
              <a:cxnLst/>
              <a:rect r="r" b="b" t="t" l="l"/>
              <a:pathLst>
                <a:path h="406400" w="801511">
                  <a:moveTo>
                    <a:pt x="598311" y="0"/>
                  </a:moveTo>
                  <a:cubicBezTo>
                    <a:pt x="710535" y="0"/>
                    <a:pt x="801511" y="90976"/>
                    <a:pt x="801511" y="203200"/>
                  </a:cubicBezTo>
                  <a:cubicBezTo>
                    <a:pt x="801511" y="315424"/>
                    <a:pt x="710535" y="406400"/>
                    <a:pt x="59831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CAB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0151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118252">
            <a:off x="-269053" y="-1355236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6" y="0"/>
                </a:lnTo>
                <a:lnTo>
                  <a:pt x="2595506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118252">
            <a:off x="16293817" y="8252522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5" y="0"/>
                </a:lnTo>
                <a:lnTo>
                  <a:pt x="2595505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36272" y="1739665"/>
            <a:ext cx="9215455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INSTRUCTIVO DE RENDICIONES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422341" y="5563158"/>
            <a:ext cx="1093375" cy="1093375"/>
          </a:xfrm>
          <a:custGeom>
            <a:avLst/>
            <a:gdLst/>
            <a:ahLst/>
            <a:cxnLst/>
            <a:rect r="r" b="b" t="t" l="l"/>
            <a:pathLst>
              <a:path h="1093375" w="1093375">
                <a:moveTo>
                  <a:pt x="0" y="0"/>
                </a:moveTo>
                <a:lnTo>
                  <a:pt x="1093375" y="0"/>
                </a:lnTo>
                <a:lnTo>
                  <a:pt x="1093375" y="1093375"/>
                </a:lnTo>
                <a:lnTo>
                  <a:pt x="0" y="10933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6564" y="5663454"/>
            <a:ext cx="799880" cy="993079"/>
          </a:xfrm>
          <a:custGeom>
            <a:avLst/>
            <a:gdLst/>
            <a:ahLst/>
            <a:cxnLst/>
            <a:rect r="r" b="b" t="t" l="l"/>
            <a:pathLst>
              <a:path h="993079" w="799880">
                <a:moveTo>
                  <a:pt x="0" y="0"/>
                </a:moveTo>
                <a:lnTo>
                  <a:pt x="799881" y="0"/>
                </a:lnTo>
                <a:lnTo>
                  <a:pt x="799881" y="993079"/>
                </a:lnTo>
                <a:lnTo>
                  <a:pt x="0" y="993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3320" y="4815729"/>
            <a:ext cx="39863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Ingreso del usuario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859426" y="5663454"/>
            <a:ext cx="1675087" cy="1093375"/>
          </a:xfrm>
          <a:custGeom>
            <a:avLst/>
            <a:gdLst/>
            <a:ahLst/>
            <a:cxnLst/>
            <a:rect r="r" b="b" t="t" l="l"/>
            <a:pathLst>
              <a:path h="1093375" w="1675087">
                <a:moveTo>
                  <a:pt x="0" y="0"/>
                </a:moveTo>
                <a:lnTo>
                  <a:pt x="1675087" y="0"/>
                </a:lnTo>
                <a:lnTo>
                  <a:pt x="1675087" y="1093375"/>
                </a:lnTo>
                <a:lnTo>
                  <a:pt x="0" y="1093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03785" y="4815729"/>
            <a:ext cx="39863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>
                <a:solidFill>
                  <a:srgbClr val="1A014B"/>
                </a:solidFill>
                <a:latin typeface="Poppins"/>
                <a:ea typeface="Poppins"/>
                <a:cs typeface="Poppins"/>
                <a:sym typeface="Poppins"/>
              </a:rPr>
              <a:t>Rendición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62149" y="5582767"/>
            <a:ext cx="1358953" cy="1093375"/>
          </a:xfrm>
          <a:custGeom>
            <a:avLst/>
            <a:gdLst/>
            <a:ahLst/>
            <a:cxnLst/>
            <a:rect r="r" b="b" t="t" l="l"/>
            <a:pathLst>
              <a:path h="1093375" w="1358953">
                <a:moveTo>
                  <a:pt x="0" y="0"/>
                </a:moveTo>
                <a:lnTo>
                  <a:pt x="1358954" y="0"/>
                </a:lnTo>
                <a:lnTo>
                  <a:pt x="1358954" y="1093375"/>
                </a:lnTo>
                <a:lnTo>
                  <a:pt x="0" y="1093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48441" y="4815729"/>
            <a:ext cx="39863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Reembolso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582468" y="3728199"/>
            <a:ext cx="773121" cy="7731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CA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32411" y="3699624"/>
            <a:ext cx="773121" cy="7731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CA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59376" y="3699624"/>
            <a:ext cx="773121" cy="7731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CA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70922" y="3728199"/>
            <a:ext cx="773121" cy="7731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CA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010795" y="5582767"/>
            <a:ext cx="1093375" cy="1093375"/>
          </a:xfrm>
          <a:custGeom>
            <a:avLst/>
            <a:gdLst/>
            <a:ahLst/>
            <a:cxnLst/>
            <a:rect r="r" b="b" t="t" l="l"/>
            <a:pathLst>
              <a:path h="1093375" w="1093375">
                <a:moveTo>
                  <a:pt x="0" y="0"/>
                </a:moveTo>
                <a:lnTo>
                  <a:pt x="1093375" y="0"/>
                </a:lnTo>
                <a:lnTo>
                  <a:pt x="1093375" y="1093375"/>
                </a:lnTo>
                <a:lnTo>
                  <a:pt x="0" y="1093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564298" y="4815729"/>
            <a:ext cx="39863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Aprobación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75844" y="4815729"/>
            <a:ext cx="398636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Herramientas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345893" y="3699624"/>
            <a:ext cx="773121" cy="77312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CA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6631835" y="5356639"/>
            <a:ext cx="39340926" cy="8359947"/>
          </a:xfrm>
          <a:custGeom>
            <a:avLst/>
            <a:gdLst/>
            <a:ahLst/>
            <a:cxnLst/>
            <a:rect r="r" b="b" t="t" l="l"/>
            <a:pathLst>
              <a:path h="8359947" w="39340926">
                <a:moveTo>
                  <a:pt x="0" y="0"/>
                </a:moveTo>
                <a:lnTo>
                  <a:pt x="39340926" y="0"/>
                </a:lnTo>
                <a:lnTo>
                  <a:pt x="39340926" y="8359947"/>
                </a:lnTo>
                <a:lnTo>
                  <a:pt x="0" y="835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660" t="-340161" r="-9237" b="-3362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761" y="1028700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05834" y="4934983"/>
            <a:ext cx="7697623" cy="6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</a:pPr>
            <a:r>
              <a:rPr lang="en-US" sz="5885" spc="-417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INGRESO DE USUARIO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31413" y="3927750"/>
            <a:ext cx="1958463" cy="2431500"/>
          </a:xfrm>
          <a:custGeom>
            <a:avLst/>
            <a:gdLst/>
            <a:ahLst/>
            <a:cxnLst/>
            <a:rect r="r" b="b" t="t" l="l"/>
            <a:pathLst>
              <a:path h="2431500" w="1958463">
                <a:moveTo>
                  <a:pt x="0" y="0"/>
                </a:moveTo>
                <a:lnTo>
                  <a:pt x="1958462" y="0"/>
                </a:lnTo>
                <a:lnTo>
                  <a:pt x="1958462" y="2431500"/>
                </a:lnTo>
                <a:lnTo>
                  <a:pt x="0" y="243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68276" y="5542517"/>
            <a:ext cx="3986369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ALS INSPECTION CHILE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634076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8148" y="3958988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4"/>
                </a:lnTo>
                <a:lnTo>
                  <a:pt x="0" y="791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09058" y="3698684"/>
            <a:ext cx="11736725" cy="5956388"/>
          </a:xfrm>
          <a:custGeom>
            <a:avLst/>
            <a:gdLst/>
            <a:ahLst/>
            <a:cxnLst/>
            <a:rect r="r" b="b" t="t" l="l"/>
            <a:pathLst>
              <a:path h="5956388" w="11736725">
                <a:moveTo>
                  <a:pt x="0" y="0"/>
                </a:moveTo>
                <a:lnTo>
                  <a:pt x="11736724" y="0"/>
                </a:lnTo>
                <a:lnTo>
                  <a:pt x="11736724" y="5956388"/>
                </a:lnTo>
                <a:lnTo>
                  <a:pt x="0" y="5956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09058" y="3247289"/>
            <a:ext cx="7973291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946" b="true">
                <a:solidFill>
                  <a:srgbClr val="1A014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Link: </a:t>
            </a:r>
            <a:r>
              <a:rPr lang="en-US" sz="2946">
                <a:solidFill>
                  <a:srgbClr val="1A014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https://rendiciones2.als-inspection.cl/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9058" y="1107001"/>
            <a:ext cx="6598391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INGRESO DE USUARIO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9058" y="1989651"/>
            <a:ext cx="11736725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El ingreso es mediante computador, el usuario debe ingresar al link e ingresar sus credenciales.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897880" y="1001702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6631835" y="5356639"/>
            <a:ext cx="39340926" cy="8359947"/>
          </a:xfrm>
          <a:custGeom>
            <a:avLst/>
            <a:gdLst/>
            <a:ahLst/>
            <a:cxnLst/>
            <a:rect r="r" b="b" t="t" l="l"/>
            <a:pathLst>
              <a:path h="8359947" w="39340926">
                <a:moveTo>
                  <a:pt x="0" y="0"/>
                </a:moveTo>
                <a:lnTo>
                  <a:pt x="39340926" y="0"/>
                </a:lnTo>
                <a:lnTo>
                  <a:pt x="39340926" y="8359947"/>
                </a:lnTo>
                <a:lnTo>
                  <a:pt x="0" y="835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660" t="-340161" r="-9237" b="-3362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761" y="1028700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05834" y="4934983"/>
            <a:ext cx="7697623" cy="6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</a:pPr>
            <a:r>
              <a:rPr lang="en-US" sz="5885" spc="-417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RENDICIÓN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68276" y="5542517"/>
            <a:ext cx="3986369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ALS INSPECTION CHILE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78280" y="4068824"/>
            <a:ext cx="3292881" cy="2149353"/>
          </a:xfrm>
          <a:custGeom>
            <a:avLst/>
            <a:gdLst/>
            <a:ahLst/>
            <a:cxnLst/>
            <a:rect r="r" b="b" t="t" l="l"/>
            <a:pathLst>
              <a:path h="2149353" w="3292881">
                <a:moveTo>
                  <a:pt x="0" y="0"/>
                </a:moveTo>
                <a:lnTo>
                  <a:pt x="3292881" y="0"/>
                </a:lnTo>
                <a:lnTo>
                  <a:pt x="3292881" y="2149352"/>
                </a:lnTo>
                <a:lnTo>
                  <a:pt x="0" y="21493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028304" y="-2539412"/>
            <a:ext cx="16230600" cy="8229600"/>
            <a:chOff x="0" y="0"/>
            <a:chExt cx="80151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1511" cy="406400"/>
            </a:xfrm>
            <a:custGeom>
              <a:avLst/>
              <a:gdLst/>
              <a:ahLst/>
              <a:cxnLst/>
              <a:rect r="r" b="b" t="t" l="l"/>
              <a:pathLst>
                <a:path h="406400" w="801511">
                  <a:moveTo>
                    <a:pt x="598311" y="0"/>
                  </a:moveTo>
                  <a:cubicBezTo>
                    <a:pt x="710535" y="0"/>
                    <a:pt x="801511" y="90976"/>
                    <a:pt x="801511" y="203200"/>
                  </a:cubicBezTo>
                  <a:cubicBezTo>
                    <a:pt x="801511" y="315424"/>
                    <a:pt x="710535" y="406400"/>
                    <a:pt x="59831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CAB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0151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118252">
            <a:off x="-269053" y="-1355236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6" y="0"/>
                </a:lnTo>
                <a:lnTo>
                  <a:pt x="2595506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118252">
            <a:off x="16293817" y="8252522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5" y="0"/>
                </a:lnTo>
                <a:lnTo>
                  <a:pt x="2595505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73620" y="874049"/>
            <a:ext cx="10739138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CICLO RENDICIÓN DE GASTOS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41020" y="5518083"/>
            <a:ext cx="2373332" cy="2362398"/>
          </a:xfrm>
          <a:custGeom>
            <a:avLst/>
            <a:gdLst/>
            <a:ahLst/>
            <a:cxnLst/>
            <a:rect r="r" b="b" t="t" l="l"/>
            <a:pathLst>
              <a:path h="2362398" w="2373332">
                <a:moveTo>
                  <a:pt x="0" y="0"/>
                </a:moveTo>
                <a:lnTo>
                  <a:pt x="2373332" y="0"/>
                </a:lnTo>
                <a:lnTo>
                  <a:pt x="2373332" y="2362397"/>
                </a:lnTo>
                <a:lnTo>
                  <a:pt x="0" y="23623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75078" y="2294058"/>
            <a:ext cx="1898665" cy="2373332"/>
          </a:xfrm>
          <a:custGeom>
            <a:avLst/>
            <a:gdLst/>
            <a:ahLst/>
            <a:cxnLst/>
            <a:rect r="r" b="b" t="t" l="l"/>
            <a:pathLst>
              <a:path h="2373332" w="1898665">
                <a:moveTo>
                  <a:pt x="0" y="0"/>
                </a:moveTo>
                <a:lnTo>
                  <a:pt x="1898665" y="0"/>
                </a:lnTo>
                <a:lnTo>
                  <a:pt x="1898665" y="2373332"/>
                </a:lnTo>
                <a:lnTo>
                  <a:pt x="0" y="2373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07423" y="2306015"/>
            <a:ext cx="2060072" cy="2373332"/>
          </a:xfrm>
          <a:custGeom>
            <a:avLst/>
            <a:gdLst/>
            <a:ahLst/>
            <a:cxnLst/>
            <a:rect r="r" b="b" t="t" l="l"/>
            <a:pathLst>
              <a:path h="2373332" w="2060072">
                <a:moveTo>
                  <a:pt x="0" y="0"/>
                </a:moveTo>
                <a:lnTo>
                  <a:pt x="2060072" y="0"/>
                </a:lnTo>
                <a:lnTo>
                  <a:pt x="2060072" y="2373332"/>
                </a:lnTo>
                <a:lnTo>
                  <a:pt x="0" y="2373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10497" y="5518083"/>
            <a:ext cx="2210712" cy="2373332"/>
          </a:xfrm>
          <a:custGeom>
            <a:avLst/>
            <a:gdLst/>
            <a:ahLst/>
            <a:cxnLst/>
            <a:rect r="r" b="b" t="t" l="l"/>
            <a:pathLst>
              <a:path h="2373332" w="2210712">
                <a:moveTo>
                  <a:pt x="0" y="0"/>
                </a:moveTo>
                <a:lnTo>
                  <a:pt x="2210712" y="0"/>
                </a:lnTo>
                <a:lnTo>
                  <a:pt x="2210712" y="2373331"/>
                </a:lnTo>
                <a:lnTo>
                  <a:pt x="0" y="2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3994" y="5518083"/>
            <a:ext cx="2373332" cy="2373332"/>
          </a:xfrm>
          <a:custGeom>
            <a:avLst/>
            <a:gdLst/>
            <a:ahLst/>
            <a:cxnLst/>
            <a:rect r="r" b="b" t="t" l="l"/>
            <a:pathLst>
              <a:path h="2373332" w="2373332">
                <a:moveTo>
                  <a:pt x="0" y="0"/>
                </a:moveTo>
                <a:lnTo>
                  <a:pt x="2373332" y="0"/>
                </a:lnTo>
                <a:lnTo>
                  <a:pt x="2373332" y="2373331"/>
                </a:lnTo>
                <a:lnTo>
                  <a:pt x="0" y="2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386955" y="5143500"/>
            <a:ext cx="15169804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45603" y="3808473"/>
            <a:ext cx="2333800" cy="85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</a:pPr>
            <a:r>
              <a:rPr lang="en-US" sz="2737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Asignación de fondos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905661" y="4817951"/>
            <a:ext cx="651097" cy="65109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6955" y="4817951"/>
            <a:ext cx="651097" cy="65109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98861" y="4817951"/>
            <a:ext cx="651097" cy="65109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18160" y="4817951"/>
            <a:ext cx="651097" cy="65109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11910" y="4787116"/>
            <a:ext cx="651097" cy="65109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736786" y="4244095"/>
            <a:ext cx="1181800" cy="43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1"/>
              </a:lnSpc>
            </a:pPr>
            <a:r>
              <a:rPr lang="en-US" sz="2737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Cierre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92106" y="5602399"/>
            <a:ext cx="3490706" cy="85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</a:pPr>
            <a:r>
              <a:rPr lang="en-US" sz="2737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Proceso aprobación Finanzas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51053" y="3703308"/>
            <a:ext cx="3185312" cy="85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</a:pPr>
            <a:r>
              <a:rPr lang="en-US" sz="2737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Proceso aprobación jefatura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27570" y="5602399"/>
            <a:ext cx="2593681" cy="85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</a:pPr>
            <a:r>
              <a:rPr lang="en-US" sz="2737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rendición de gastos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028304" y="-2539412"/>
            <a:ext cx="16230600" cy="8229600"/>
            <a:chOff x="0" y="0"/>
            <a:chExt cx="80151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1511" cy="406400"/>
            </a:xfrm>
            <a:custGeom>
              <a:avLst/>
              <a:gdLst/>
              <a:ahLst/>
              <a:cxnLst/>
              <a:rect r="r" b="b" t="t" l="l"/>
              <a:pathLst>
                <a:path h="406400" w="801511">
                  <a:moveTo>
                    <a:pt x="598311" y="0"/>
                  </a:moveTo>
                  <a:cubicBezTo>
                    <a:pt x="710535" y="0"/>
                    <a:pt x="801511" y="90976"/>
                    <a:pt x="801511" y="203200"/>
                  </a:cubicBezTo>
                  <a:cubicBezTo>
                    <a:pt x="801511" y="315424"/>
                    <a:pt x="710535" y="406400"/>
                    <a:pt x="59831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CAB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0151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118252">
            <a:off x="-269053" y="-1355236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6" y="0"/>
                </a:lnTo>
                <a:lnTo>
                  <a:pt x="2595506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118252">
            <a:off x="16293817" y="8252522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5" y="0"/>
                </a:lnTo>
                <a:lnTo>
                  <a:pt x="2595505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73620" y="3612388"/>
            <a:ext cx="12424361" cy="5559902"/>
          </a:xfrm>
          <a:custGeom>
            <a:avLst/>
            <a:gdLst/>
            <a:ahLst/>
            <a:cxnLst/>
            <a:rect r="r" b="b" t="t" l="l"/>
            <a:pathLst>
              <a:path h="5559902" w="12424361">
                <a:moveTo>
                  <a:pt x="0" y="0"/>
                </a:moveTo>
                <a:lnTo>
                  <a:pt x="12424362" y="0"/>
                </a:lnTo>
                <a:lnTo>
                  <a:pt x="12424362" y="5559902"/>
                </a:lnTo>
                <a:lnTo>
                  <a:pt x="0" y="5559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73620" y="1026112"/>
            <a:ext cx="9153036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ASIGNACIÓN DE FONDOS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3620" y="2218517"/>
            <a:ext cx="9992845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El usuario debe tener asignado fondos como rendidor (fondo asignado por finanzas).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3620" y="9353265"/>
            <a:ext cx="6212181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Rellenar los campos requeridos.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602589" y="2476794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028304" y="-2539412"/>
            <a:ext cx="16230600" cy="8229600"/>
            <a:chOff x="0" y="0"/>
            <a:chExt cx="80151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1511" cy="406400"/>
            </a:xfrm>
            <a:custGeom>
              <a:avLst/>
              <a:gdLst/>
              <a:ahLst/>
              <a:cxnLst/>
              <a:rect r="r" b="b" t="t" l="l"/>
              <a:pathLst>
                <a:path h="406400" w="801511">
                  <a:moveTo>
                    <a:pt x="598311" y="0"/>
                  </a:moveTo>
                  <a:cubicBezTo>
                    <a:pt x="710535" y="0"/>
                    <a:pt x="801511" y="90976"/>
                    <a:pt x="801511" y="203200"/>
                  </a:cubicBezTo>
                  <a:cubicBezTo>
                    <a:pt x="801511" y="315424"/>
                    <a:pt x="710535" y="406400"/>
                    <a:pt x="59831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CAB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0151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118252">
            <a:off x="-269053" y="-1355236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6" y="0"/>
                </a:lnTo>
                <a:lnTo>
                  <a:pt x="2595506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118252">
            <a:off x="16293817" y="8252522"/>
            <a:ext cx="2595506" cy="3516079"/>
          </a:xfrm>
          <a:custGeom>
            <a:avLst/>
            <a:gdLst/>
            <a:ahLst/>
            <a:cxnLst/>
            <a:rect r="r" b="b" t="t" l="l"/>
            <a:pathLst>
              <a:path h="3516079" w="2595506">
                <a:moveTo>
                  <a:pt x="0" y="0"/>
                </a:moveTo>
                <a:lnTo>
                  <a:pt x="2595505" y="0"/>
                </a:lnTo>
                <a:lnTo>
                  <a:pt x="2595505" y="3516079"/>
                </a:lnTo>
                <a:lnTo>
                  <a:pt x="0" y="35160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73620" y="858837"/>
            <a:ext cx="9153036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RENDICIÓN DE GASTOS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868203" y="1575388"/>
            <a:ext cx="7286547" cy="3725340"/>
          </a:xfrm>
          <a:custGeom>
            <a:avLst/>
            <a:gdLst/>
            <a:ahLst/>
            <a:cxnLst/>
            <a:rect r="r" b="b" t="t" l="l"/>
            <a:pathLst>
              <a:path h="3725340" w="7286547">
                <a:moveTo>
                  <a:pt x="0" y="0"/>
                </a:moveTo>
                <a:lnTo>
                  <a:pt x="7286547" y="0"/>
                </a:lnTo>
                <a:lnTo>
                  <a:pt x="7286547" y="3725339"/>
                </a:lnTo>
                <a:lnTo>
                  <a:pt x="0" y="372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527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93865" y="1575388"/>
            <a:ext cx="5223185" cy="3725340"/>
          </a:xfrm>
          <a:custGeom>
            <a:avLst/>
            <a:gdLst/>
            <a:ahLst/>
            <a:cxnLst/>
            <a:rect r="r" b="b" t="t" l="l"/>
            <a:pathLst>
              <a:path h="3725340" w="5223185">
                <a:moveTo>
                  <a:pt x="0" y="0"/>
                </a:moveTo>
                <a:lnTo>
                  <a:pt x="5223185" y="0"/>
                </a:lnTo>
                <a:lnTo>
                  <a:pt x="5223185" y="3725339"/>
                </a:lnTo>
                <a:lnTo>
                  <a:pt x="0" y="3725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667" t="-7929" r="-36837" b="-7838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7517050" y="3438057"/>
            <a:ext cx="13511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9144000" y="5319317"/>
            <a:ext cx="4782715" cy="43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3"/>
              </a:lnSpc>
            </a:pPr>
            <a:r>
              <a:rPr lang="en-US" sz="2771" b="true">
                <a:solidFill>
                  <a:srgbClr val="1A014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2. </a:t>
            </a:r>
            <a:r>
              <a:rPr lang="en-US" sz="2771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Detalle fondo asignado.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7401975" y="7956503"/>
            <a:ext cx="24352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939059" y="6391106"/>
            <a:ext cx="5462916" cy="3130794"/>
          </a:xfrm>
          <a:custGeom>
            <a:avLst/>
            <a:gdLst/>
            <a:ahLst/>
            <a:cxnLst/>
            <a:rect r="r" b="b" t="t" l="l"/>
            <a:pathLst>
              <a:path h="3130794" w="5462916">
                <a:moveTo>
                  <a:pt x="0" y="0"/>
                </a:moveTo>
                <a:lnTo>
                  <a:pt x="5462916" y="0"/>
                </a:lnTo>
                <a:lnTo>
                  <a:pt x="5462916" y="3130794"/>
                </a:lnTo>
                <a:lnTo>
                  <a:pt x="0" y="31307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476" t="0" r="-913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03028" y="9512375"/>
            <a:ext cx="5298947" cy="7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511" b="true">
                <a:solidFill>
                  <a:srgbClr val="1A014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3. </a:t>
            </a:r>
            <a:r>
              <a:rPr lang="en-US" sz="2511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 “añadir gasto” - llenar los campos requeridos.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837231" y="6391106"/>
            <a:ext cx="6153895" cy="3130794"/>
          </a:xfrm>
          <a:custGeom>
            <a:avLst/>
            <a:gdLst/>
            <a:ahLst/>
            <a:cxnLst/>
            <a:rect r="r" b="b" t="t" l="l"/>
            <a:pathLst>
              <a:path h="3130794" w="6153895">
                <a:moveTo>
                  <a:pt x="0" y="0"/>
                </a:moveTo>
                <a:lnTo>
                  <a:pt x="6153895" y="0"/>
                </a:lnTo>
                <a:lnTo>
                  <a:pt x="6153895" y="3130794"/>
                </a:lnTo>
                <a:lnTo>
                  <a:pt x="0" y="3130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75571" y="9512375"/>
            <a:ext cx="5724449" cy="7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511" b="true">
                <a:solidFill>
                  <a:srgbClr val="1A014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4. </a:t>
            </a:r>
            <a:r>
              <a:rPr lang="en-US" sz="2511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El usuario puede ver y descargar comprobante.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73620" y="5319317"/>
            <a:ext cx="3392543" cy="43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3"/>
              </a:lnSpc>
            </a:pPr>
            <a:r>
              <a:rPr lang="en-US" sz="2771" b="true">
                <a:solidFill>
                  <a:srgbClr val="1A014B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1.</a:t>
            </a:r>
            <a:r>
              <a:rPr lang="en-US" sz="2771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 “Rendir gastos”.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556758" y="2512224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H="true">
            <a:off x="1939059" y="6060900"/>
            <a:ext cx="634562" cy="18956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>
            <a:off x="2573620" y="3438057"/>
            <a:ext cx="13581130" cy="2622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6631835" y="5356639"/>
            <a:ext cx="39340926" cy="8359947"/>
          </a:xfrm>
          <a:custGeom>
            <a:avLst/>
            <a:gdLst/>
            <a:ahLst/>
            <a:cxnLst/>
            <a:rect r="r" b="b" t="t" l="l"/>
            <a:pathLst>
              <a:path h="8359947" w="39340926">
                <a:moveTo>
                  <a:pt x="0" y="0"/>
                </a:moveTo>
                <a:lnTo>
                  <a:pt x="39340926" y="0"/>
                </a:lnTo>
                <a:lnTo>
                  <a:pt x="39340926" y="8359947"/>
                </a:lnTo>
                <a:lnTo>
                  <a:pt x="0" y="835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660" t="-340161" r="-9237" b="-3362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761" y="1028700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05834" y="4934983"/>
            <a:ext cx="7697623" cy="6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</a:pPr>
            <a:r>
              <a:rPr lang="en-US" sz="5885" spc="-417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REEMBOLSO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68276" y="5542517"/>
            <a:ext cx="3986369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ALS INSPECTION CHILE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31583" y="3992510"/>
            <a:ext cx="2861126" cy="2301981"/>
          </a:xfrm>
          <a:custGeom>
            <a:avLst/>
            <a:gdLst/>
            <a:ahLst/>
            <a:cxnLst/>
            <a:rect r="r" b="b" t="t" l="l"/>
            <a:pathLst>
              <a:path h="2301981" w="2861126">
                <a:moveTo>
                  <a:pt x="0" y="0"/>
                </a:moveTo>
                <a:lnTo>
                  <a:pt x="2861126" y="0"/>
                </a:lnTo>
                <a:lnTo>
                  <a:pt x="2861126" y="2301980"/>
                </a:lnTo>
                <a:lnTo>
                  <a:pt x="0" y="2301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6764915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937637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11236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8148" y="3958988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4"/>
                </a:lnTo>
                <a:lnTo>
                  <a:pt x="0" y="791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5897880" y="984619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097457" y="3151764"/>
            <a:ext cx="11301259" cy="5424604"/>
          </a:xfrm>
          <a:custGeom>
            <a:avLst/>
            <a:gdLst/>
            <a:ahLst/>
            <a:cxnLst/>
            <a:rect r="r" b="b" t="t" l="l"/>
            <a:pathLst>
              <a:path h="5424604" w="11301259">
                <a:moveTo>
                  <a:pt x="0" y="0"/>
                </a:moveTo>
                <a:lnTo>
                  <a:pt x="11301259" y="0"/>
                </a:lnTo>
                <a:lnTo>
                  <a:pt x="11301259" y="5424605"/>
                </a:lnTo>
                <a:lnTo>
                  <a:pt x="0" y="5424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97457" y="1249972"/>
            <a:ext cx="6598391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REEMBOLSO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7457" y="9009579"/>
            <a:ext cx="11301259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“crear reembolso” - rellenando los campos requeridos.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7457" y="2227873"/>
            <a:ext cx="11912935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El reembolso es utilizado en caso de realizar gastos imprevistos por el personal.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6631835" y="5356639"/>
            <a:ext cx="39340926" cy="8359947"/>
          </a:xfrm>
          <a:custGeom>
            <a:avLst/>
            <a:gdLst/>
            <a:ahLst/>
            <a:cxnLst/>
            <a:rect r="r" b="b" t="t" l="l"/>
            <a:pathLst>
              <a:path h="8359947" w="39340926">
                <a:moveTo>
                  <a:pt x="0" y="0"/>
                </a:moveTo>
                <a:lnTo>
                  <a:pt x="39340926" y="0"/>
                </a:lnTo>
                <a:lnTo>
                  <a:pt x="39340926" y="8359947"/>
                </a:lnTo>
                <a:lnTo>
                  <a:pt x="0" y="835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660" t="-340161" r="-9237" b="-3362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761" y="1028700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5083" y="3608252"/>
            <a:ext cx="3070495" cy="3070495"/>
          </a:xfrm>
          <a:custGeom>
            <a:avLst/>
            <a:gdLst/>
            <a:ahLst/>
            <a:cxnLst/>
            <a:rect r="r" b="b" t="t" l="l"/>
            <a:pathLst>
              <a:path h="3070495" w="3070495">
                <a:moveTo>
                  <a:pt x="0" y="0"/>
                </a:moveTo>
                <a:lnTo>
                  <a:pt x="3070495" y="0"/>
                </a:lnTo>
                <a:lnTo>
                  <a:pt x="3070495" y="3070496"/>
                </a:lnTo>
                <a:lnTo>
                  <a:pt x="0" y="3070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05834" y="4934983"/>
            <a:ext cx="8239460" cy="6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</a:pPr>
            <a:r>
              <a:rPr lang="en-US" sz="5885" spc="-417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APROBACIÓN DE FONDOS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68276" y="5542517"/>
            <a:ext cx="3986369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ALS INSPECTION CHILE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6958" y="6799193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846543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68222" y="3268257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976598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906724" y="1238250"/>
            <a:ext cx="9153036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VISTA APROBADOR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6724" y="2675886"/>
            <a:ext cx="12917034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Tanto la jefatura del rendidor y finanzas, tendrá acceso a aprobar los gastos del rendidor.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5638" y="4666912"/>
            <a:ext cx="16701320" cy="4898780"/>
            <a:chOff x="0" y="0"/>
            <a:chExt cx="22268427" cy="65317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520955" y="597351"/>
              <a:ext cx="14747471" cy="5896257"/>
            </a:xfrm>
            <a:custGeom>
              <a:avLst/>
              <a:gdLst/>
              <a:ahLst/>
              <a:cxnLst/>
              <a:rect r="r" b="b" t="t" l="l"/>
              <a:pathLst>
                <a:path h="5896257" w="14747471">
                  <a:moveTo>
                    <a:pt x="0" y="0"/>
                  </a:moveTo>
                  <a:lnTo>
                    <a:pt x="14747472" y="0"/>
                  </a:lnTo>
                  <a:lnTo>
                    <a:pt x="14747472" y="5896257"/>
                  </a:lnTo>
                  <a:lnTo>
                    <a:pt x="0" y="5896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30685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35450"/>
              <a:ext cx="6776426" cy="5896257"/>
            </a:xfrm>
            <a:custGeom>
              <a:avLst/>
              <a:gdLst/>
              <a:ahLst/>
              <a:cxnLst/>
              <a:rect r="r" b="b" t="t" l="l"/>
              <a:pathLst>
                <a:path h="5896257" w="6776426">
                  <a:moveTo>
                    <a:pt x="0" y="0"/>
                  </a:moveTo>
                  <a:lnTo>
                    <a:pt x="6776426" y="0"/>
                  </a:lnTo>
                  <a:lnTo>
                    <a:pt x="6776426" y="5896257"/>
                  </a:lnTo>
                  <a:lnTo>
                    <a:pt x="0" y="5896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8338"/>
              </a:stretch>
            </a:blipFill>
          </p:spPr>
        </p:sp>
        <p:sp>
          <p:nvSpPr>
            <p:cNvPr name="AutoShape 13" id="13"/>
            <p:cNvSpPr/>
            <p:nvPr/>
          </p:nvSpPr>
          <p:spPr>
            <a:xfrm flipV="true">
              <a:off x="6776426" y="3558179"/>
              <a:ext cx="785985" cy="2539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28574"/>
              <a:ext cx="6776426" cy="606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6203" indent="-318102" lvl="1">
                <a:lnSpc>
                  <a:spcPts val="3683"/>
                </a:lnSpc>
                <a:buFont typeface="Arial"/>
                <a:buChar char="•"/>
              </a:pPr>
              <a:r>
                <a:rPr lang="en-US" sz="2946">
                  <a:solidFill>
                    <a:srgbClr val="1A014B"/>
                  </a:solidFill>
                  <a:latin typeface=" Avenir Next Arabic Light"/>
                  <a:ea typeface=" Avenir Next Arabic Light"/>
                  <a:cs typeface=" Avenir Next Arabic Light"/>
                  <a:sym typeface=" Avenir Next Arabic Light"/>
                </a:rPr>
                <a:t>“Ver todo los gastos”.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562411" y="-9525"/>
              <a:ext cx="14706016" cy="606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36203" indent="-318102" lvl="1">
                <a:lnSpc>
                  <a:spcPts val="3683"/>
                </a:lnSpc>
                <a:buFont typeface="Arial"/>
                <a:buChar char="•"/>
              </a:pPr>
              <a:r>
                <a:rPr lang="en-US" sz="2946">
                  <a:solidFill>
                    <a:srgbClr val="1A014B"/>
                  </a:solidFill>
                  <a:latin typeface=" Avenir Next Arabic Light"/>
                  <a:ea typeface=" Avenir Next Arabic Light"/>
                  <a:cs typeface=" Avenir Next Arabic Light"/>
                  <a:sym typeface=" Avenir Next Arabic Light"/>
                </a:rPr>
                <a:t>El proceso de visado puede aprobar o rechazar la rendición.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43080" y="7200900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846543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68222" y="3268257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976598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959626" y="1238250"/>
            <a:ext cx="10713647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CIERRE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9626" y="2273000"/>
            <a:ext cx="12440916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Por último, Finanzas puede hacer el “Cierre fondos”.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95497" y="4677167"/>
            <a:ext cx="5747583" cy="2815973"/>
          </a:xfrm>
          <a:custGeom>
            <a:avLst/>
            <a:gdLst/>
            <a:ahLst/>
            <a:cxnLst/>
            <a:rect r="r" b="b" t="t" l="l"/>
            <a:pathLst>
              <a:path h="2815973" w="5747583">
                <a:moveTo>
                  <a:pt x="0" y="0"/>
                </a:moveTo>
                <a:lnTo>
                  <a:pt x="5747583" y="0"/>
                </a:lnTo>
                <a:lnTo>
                  <a:pt x="5747583" y="2815973"/>
                </a:lnTo>
                <a:lnTo>
                  <a:pt x="0" y="2815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385" t="-9075" r="-19848" b="-1938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995497" y="7483615"/>
            <a:ext cx="5747583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Obligatorio previo al cierre de fondos.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4059720"/>
            <a:ext cx="9312340" cy="4050868"/>
          </a:xfrm>
          <a:custGeom>
            <a:avLst/>
            <a:gdLst/>
            <a:ahLst/>
            <a:cxnLst/>
            <a:rect r="r" b="b" t="t" l="l"/>
            <a:pathLst>
              <a:path h="4050868" w="9312340">
                <a:moveTo>
                  <a:pt x="0" y="0"/>
                </a:moveTo>
                <a:lnTo>
                  <a:pt x="9312340" y="0"/>
                </a:lnTo>
                <a:lnTo>
                  <a:pt x="9312340" y="4050868"/>
                </a:lnTo>
                <a:lnTo>
                  <a:pt x="0" y="4050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374288"/>
            <a:ext cx="9211344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El usuario puede descargar informe.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14380" y="6676878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6631835" y="5356639"/>
            <a:ext cx="39340926" cy="8359947"/>
          </a:xfrm>
          <a:custGeom>
            <a:avLst/>
            <a:gdLst/>
            <a:ahLst/>
            <a:cxnLst/>
            <a:rect r="r" b="b" t="t" l="l"/>
            <a:pathLst>
              <a:path h="8359947" w="39340926">
                <a:moveTo>
                  <a:pt x="0" y="0"/>
                </a:moveTo>
                <a:lnTo>
                  <a:pt x="39340926" y="0"/>
                </a:lnTo>
                <a:lnTo>
                  <a:pt x="39340926" y="8359947"/>
                </a:lnTo>
                <a:lnTo>
                  <a:pt x="0" y="835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660" t="-340161" r="-9237" b="-3362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28761" y="1028700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05834" y="4934983"/>
            <a:ext cx="8239460" cy="6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</a:pPr>
            <a:r>
              <a:rPr lang="en-US" sz="5885" spc="-417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OTRAS HERRAMIENTAS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68276" y="5542517"/>
            <a:ext cx="3986369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>
                <a:solidFill>
                  <a:srgbClr val="1A014B"/>
                </a:solidFill>
                <a:latin typeface="Poppins Light"/>
                <a:ea typeface="Poppins Light"/>
                <a:cs typeface="Poppins Light"/>
                <a:sym typeface="Poppins Light"/>
              </a:rPr>
              <a:t>ALS INSPECTION CHILE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91941" y="4150170"/>
            <a:ext cx="2279674" cy="2279674"/>
          </a:xfrm>
          <a:custGeom>
            <a:avLst/>
            <a:gdLst/>
            <a:ahLst/>
            <a:cxnLst/>
            <a:rect r="r" b="b" t="t" l="l"/>
            <a:pathLst>
              <a:path h="2279674" w="2279674">
                <a:moveTo>
                  <a:pt x="0" y="0"/>
                </a:moveTo>
                <a:lnTo>
                  <a:pt x="2279673" y="0"/>
                </a:lnTo>
                <a:lnTo>
                  <a:pt x="2279673" y="2279674"/>
                </a:lnTo>
                <a:lnTo>
                  <a:pt x="0" y="22796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6772742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1" y="0"/>
                </a:lnTo>
                <a:lnTo>
                  <a:pt x="3089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846543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02589" y="2476794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976598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732327" y="1040994"/>
            <a:ext cx="9153036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HISTORIAL RENDICIONES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2327" y="2218517"/>
            <a:ext cx="11489506" cy="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En “historial mis fondos” el usuario puede ver el estado de los fondos rendidos.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295926" y="3311176"/>
            <a:ext cx="10362307" cy="4714850"/>
            <a:chOff x="0" y="0"/>
            <a:chExt cx="13816410" cy="6286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16410" cy="6286466"/>
            </a:xfrm>
            <a:custGeom>
              <a:avLst/>
              <a:gdLst/>
              <a:ahLst/>
              <a:cxnLst/>
              <a:rect r="r" b="b" t="t" l="l"/>
              <a:pathLst>
                <a:path h="6286466" w="13816410">
                  <a:moveTo>
                    <a:pt x="0" y="0"/>
                  </a:moveTo>
                  <a:lnTo>
                    <a:pt x="13816410" y="0"/>
                  </a:lnTo>
                  <a:lnTo>
                    <a:pt x="13816410" y="6286466"/>
                  </a:lnTo>
                  <a:lnTo>
                    <a:pt x="0" y="6286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9474060" y="3854733"/>
              <a:ext cx="929258" cy="153712"/>
              <a:chOff x="0" y="0"/>
              <a:chExt cx="1013460" cy="1676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50800" y="41910"/>
                <a:ext cx="911860" cy="109220"/>
              </a:xfrm>
              <a:custGeom>
                <a:avLst/>
                <a:gdLst/>
                <a:ahLst/>
                <a:cxnLst/>
                <a:rect r="r" b="b" t="t" l="l"/>
                <a:pathLst>
                  <a:path h="109220" w="911860">
                    <a:moveTo>
                      <a:pt x="25400" y="24130"/>
                    </a:moveTo>
                    <a:cubicBezTo>
                      <a:pt x="807720" y="20320"/>
                      <a:pt x="858520" y="0"/>
                      <a:pt x="885190" y="8890"/>
                    </a:cubicBezTo>
                    <a:cubicBezTo>
                      <a:pt x="899160" y="15240"/>
                      <a:pt x="910590" y="27940"/>
                      <a:pt x="910590" y="36830"/>
                    </a:cubicBezTo>
                    <a:cubicBezTo>
                      <a:pt x="911860" y="44450"/>
                      <a:pt x="899160" y="57150"/>
                      <a:pt x="891540" y="59690"/>
                    </a:cubicBezTo>
                    <a:cubicBezTo>
                      <a:pt x="883920" y="62230"/>
                      <a:pt x="873760" y="58420"/>
                      <a:pt x="868680" y="53340"/>
                    </a:cubicBezTo>
                    <a:cubicBezTo>
                      <a:pt x="863600" y="46990"/>
                      <a:pt x="859790" y="30480"/>
                      <a:pt x="863600" y="22860"/>
                    </a:cubicBezTo>
                    <a:cubicBezTo>
                      <a:pt x="866140" y="16510"/>
                      <a:pt x="876300" y="10160"/>
                      <a:pt x="882650" y="10160"/>
                    </a:cubicBezTo>
                    <a:cubicBezTo>
                      <a:pt x="891540" y="8890"/>
                      <a:pt x="906780" y="17780"/>
                      <a:pt x="909320" y="25400"/>
                    </a:cubicBezTo>
                    <a:cubicBezTo>
                      <a:pt x="911860" y="34290"/>
                      <a:pt x="905510" y="50800"/>
                      <a:pt x="894080" y="58420"/>
                    </a:cubicBezTo>
                    <a:cubicBezTo>
                      <a:pt x="869950" y="76200"/>
                      <a:pt x="811530" y="71120"/>
                      <a:pt x="741680" y="74930"/>
                    </a:cubicBezTo>
                    <a:cubicBezTo>
                      <a:pt x="590550" y="82550"/>
                      <a:pt x="100330" y="109220"/>
                      <a:pt x="25400" y="74930"/>
                    </a:cubicBezTo>
                    <a:cubicBezTo>
                      <a:pt x="8890" y="67310"/>
                      <a:pt x="0" y="55880"/>
                      <a:pt x="0" y="46990"/>
                    </a:cubicBezTo>
                    <a:cubicBezTo>
                      <a:pt x="1270" y="38100"/>
                      <a:pt x="25400" y="24130"/>
                      <a:pt x="25400" y="24130"/>
                    </a:cubicBezTo>
                  </a:path>
                </a:pathLst>
              </a:custGeom>
              <a:solidFill>
                <a:srgbClr val="0571D3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-5400000">
            <a:off x="701711" y="8713319"/>
            <a:ext cx="871970" cy="217992"/>
          </a:xfrm>
          <a:custGeom>
            <a:avLst/>
            <a:gdLst/>
            <a:ahLst/>
            <a:cxnLst/>
            <a:rect r="r" b="b" t="t" l="l"/>
            <a:pathLst>
              <a:path h="217992" w="871970">
                <a:moveTo>
                  <a:pt x="0" y="0"/>
                </a:moveTo>
                <a:lnTo>
                  <a:pt x="871970" y="0"/>
                </a:lnTo>
                <a:lnTo>
                  <a:pt x="871970" y="217992"/>
                </a:lnTo>
                <a:lnTo>
                  <a:pt x="0" y="2179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68222" y="6585702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16220" y="-846543"/>
            <a:ext cx="3089841" cy="4114800"/>
          </a:xfrm>
          <a:custGeom>
            <a:avLst/>
            <a:gdLst/>
            <a:ahLst/>
            <a:cxnLst/>
            <a:rect r="r" b="b" t="t" l="l"/>
            <a:pathLst>
              <a:path h="4114800" w="3089841">
                <a:moveTo>
                  <a:pt x="0" y="0"/>
                </a:moveTo>
                <a:lnTo>
                  <a:pt x="3089840" y="0"/>
                </a:lnTo>
                <a:lnTo>
                  <a:pt x="3089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68222" y="3268257"/>
            <a:ext cx="777073" cy="791463"/>
          </a:xfrm>
          <a:custGeom>
            <a:avLst/>
            <a:gdLst/>
            <a:ahLst/>
            <a:cxnLst/>
            <a:rect r="r" b="b" t="t" l="l"/>
            <a:pathLst>
              <a:path h="791463" w="777073">
                <a:moveTo>
                  <a:pt x="0" y="0"/>
                </a:moveTo>
                <a:lnTo>
                  <a:pt x="777073" y="0"/>
                </a:lnTo>
                <a:lnTo>
                  <a:pt x="777073" y="791463"/>
                </a:lnTo>
                <a:lnTo>
                  <a:pt x="0" y="791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2589" y="0"/>
            <a:ext cx="2685411" cy="2685411"/>
          </a:xfrm>
          <a:custGeom>
            <a:avLst/>
            <a:gdLst/>
            <a:ahLst/>
            <a:cxnLst/>
            <a:rect r="r" b="b" t="t" l="l"/>
            <a:pathLst>
              <a:path h="2685411" w="2685411">
                <a:moveTo>
                  <a:pt x="0" y="0"/>
                </a:moveTo>
                <a:lnTo>
                  <a:pt x="2685411" y="0"/>
                </a:lnTo>
                <a:lnTo>
                  <a:pt x="2685411" y="2685411"/>
                </a:lnTo>
                <a:lnTo>
                  <a:pt x="0" y="2685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976598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355613"/>
            <a:ext cx="8011134" cy="3214468"/>
          </a:xfrm>
          <a:custGeom>
            <a:avLst/>
            <a:gdLst/>
            <a:ahLst/>
            <a:cxnLst/>
            <a:rect r="r" b="b" t="t" l="l"/>
            <a:pathLst>
              <a:path h="3214468" w="8011134">
                <a:moveTo>
                  <a:pt x="0" y="0"/>
                </a:moveTo>
                <a:lnTo>
                  <a:pt x="8011134" y="0"/>
                </a:lnTo>
                <a:lnTo>
                  <a:pt x="8011134" y="3214468"/>
                </a:lnTo>
                <a:lnTo>
                  <a:pt x="0" y="321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945326"/>
            <a:ext cx="8011134" cy="41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579" indent="-277789" lvl="1">
              <a:lnSpc>
                <a:spcPts val="3216"/>
              </a:lnSpc>
              <a:buFont typeface="Arial"/>
              <a:buChar char="•"/>
            </a:pPr>
            <a:r>
              <a:rPr lang="en-US" sz="2573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“listar fondos”. Podrá descargar Excel detallado.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56690" y="4355613"/>
            <a:ext cx="6211532" cy="3214468"/>
          </a:xfrm>
          <a:custGeom>
            <a:avLst/>
            <a:gdLst/>
            <a:ahLst/>
            <a:cxnLst/>
            <a:rect r="r" b="b" t="t" l="l"/>
            <a:pathLst>
              <a:path h="3214468" w="6211532">
                <a:moveTo>
                  <a:pt x="0" y="0"/>
                </a:moveTo>
                <a:lnTo>
                  <a:pt x="6211532" y="0"/>
                </a:lnTo>
                <a:lnTo>
                  <a:pt x="6211532" y="3214468"/>
                </a:lnTo>
                <a:lnTo>
                  <a:pt x="0" y="321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69971" y="3931113"/>
            <a:ext cx="2734078" cy="44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996" indent="-311498" lvl="1">
              <a:lnSpc>
                <a:spcPts val="3606"/>
              </a:lnSpc>
              <a:buFont typeface="Arial"/>
              <a:buChar char="•"/>
            </a:pPr>
            <a:r>
              <a:rPr lang="en-US" sz="2885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“Facturas”.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59626" y="1238250"/>
            <a:ext cx="10713647" cy="5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5000" spc="-355">
                <a:solidFill>
                  <a:srgbClr val="1A014B"/>
                </a:solidFill>
                <a:latin typeface="Archive"/>
                <a:ea typeface="Archive"/>
                <a:cs typeface="Archive"/>
                <a:sym typeface="Archive"/>
              </a:rPr>
              <a:t>HERRAMIENTAS PARA FINANZAS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59626" y="2273000"/>
            <a:ext cx="12440916" cy="45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203" indent="-318102" lvl="1">
              <a:lnSpc>
                <a:spcPts val="3683"/>
              </a:lnSpc>
              <a:buFont typeface="Arial"/>
              <a:buChar char="•"/>
            </a:pPr>
            <a:r>
              <a:rPr lang="en-US" sz="2946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Finanzas tendrá acceso a la sección “ADM”.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451" y="7762275"/>
            <a:ext cx="8151384" cy="122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579" indent="-277789" lvl="1">
              <a:lnSpc>
                <a:spcPts val="3216"/>
              </a:lnSpc>
              <a:buFont typeface="Arial"/>
              <a:buChar char="•"/>
            </a:pPr>
            <a:r>
              <a:rPr lang="en-US" sz="2573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Listado de todas las rendiciones y reembolsos, con un buscador avanzado para filtrar dependiendo de las necesidades de finanzas.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93181" y="7762275"/>
            <a:ext cx="6338550" cy="122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579" indent="-277789" lvl="1">
              <a:lnSpc>
                <a:spcPts val="3216"/>
              </a:lnSpc>
              <a:buFont typeface="Arial"/>
              <a:buChar char="•"/>
            </a:pPr>
            <a:r>
              <a:rPr lang="en-US" sz="2573">
                <a:solidFill>
                  <a:srgbClr val="1A014B"/>
                </a:solidFill>
                <a:latin typeface=" Avenir Next Arabic Light"/>
                <a:ea typeface=" Avenir Next Arabic Light"/>
                <a:cs typeface=" Avenir Next Arabic Light"/>
                <a:sym typeface=" Avenir Next Arabic Light"/>
              </a:rPr>
              <a:t>Listado de todas las operaciones ingresadas con factura, teniendo la opción de visualización o descarga.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DAGe5PcpuRY</dc:identifier>
  <dcterms:modified xsi:type="dcterms:W3CDTF">2011-08-01T06:04:30Z</dcterms:modified>
  <cp:revision>1</cp:revision>
  <dc:title>Instructivo rendiciones ALS</dc:title>
</cp:coreProperties>
</file>